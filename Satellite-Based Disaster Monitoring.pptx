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-274320"/>
            <a:ext cx="2011680" cy="2011680"/>
          </a:xfrm>
          <a:prstGeom prst="ellipse">
            <a:avLst/>
          </a:prstGeom>
          <a:solidFill>
            <a:srgbClr val="A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029200"/>
            <a:ext cx="1828800" cy="1828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0" y="4389120"/>
            <a:ext cx="1280160" cy="12801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26080" y="1051560"/>
            <a:ext cx="3291840" cy="384048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078992"/>
            <a:ext cx="3291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 panose="020B0502040204020203"/>
              </a:rPr>
              <a:t>AI-POWERED  •  CLOUD-NATIVE  •  REAL-TIME</a:t>
            </a:r>
            <a:endParaRPr sz="900" b="1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822960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3600" b="1">
                <a:solidFill>
                  <a:srgbClr val="FFFFFF"/>
                </a:solidFill>
                <a:latin typeface="Segoe UI" panose="020B0502040204020203"/>
              </a:rPr>
              <a:t>Satellite </a:t>
            </a:r>
            <a:r>
              <a:rPr lang="en-IN" altLang="en-US" sz="3600" b="1">
                <a:solidFill>
                  <a:srgbClr val="FFFFFF"/>
                </a:solidFill>
                <a:latin typeface="Segoe UI" panose="020B0502040204020203"/>
              </a:rPr>
              <a:t>B</a:t>
            </a:r>
            <a:r>
              <a:rPr lang="en-US" altLang="en-US" sz="3600" b="1">
                <a:solidFill>
                  <a:srgbClr val="FFFFFF"/>
                </a:solidFill>
                <a:latin typeface="Segoe UI" panose="020B0502040204020203"/>
              </a:rPr>
              <a:t>ased </a:t>
            </a:r>
            <a:r>
              <a:rPr lang="en-IN" altLang="en-US" sz="3600" b="1">
                <a:solidFill>
                  <a:srgbClr val="FFFFFF"/>
                </a:solidFill>
                <a:latin typeface="Segoe UI" panose="020B0502040204020203"/>
              </a:rPr>
              <a:t>D</a:t>
            </a:r>
            <a:r>
              <a:rPr lang="en-US" altLang="en-US" sz="3600" b="1">
                <a:solidFill>
                  <a:srgbClr val="FFFFFF"/>
                </a:solidFill>
                <a:latin typeface="Segoe UI" panose="020B0502040204020203"/>
              </a:rPr>
              <a:t>isaster </a:t>
            </a:r>
            <a:r>
              <a:rPr lang="en-IN" altLang="en-US" sz="3600" b="1">
                <a:solidFill>
                  <a:srgbClr val="FFFFFF"/>
                </a:solidFill>
                <a:latin typeface="Segoe UI" panose="020B0502040204020203"/>
              </a:rPr>
              <a:t>M</a:t>
            </a:r>
            <a:r>
              <a:rPr lang="en-US" altLang="en-US" sz="3600" b="1">
                <a:solidFill>
                  <a:srgbClr val="FFFFFF"/>
                </a:solidFill>
                <a:latin typeface="Segoe UI" panose="020B0502040204020203"/>
              </a:rPr>
              <a:t>onitoring and </a:t>
            </a:r>
            <a:r>
              <a:rPr lang="en-IN" altLang="en-US" sz="3600" b="1">
                <a:solidFill>
                  <a:srgbClr val="FFFFFF"/>
                </a:solidFill>
                <a:latin typeface="Segoe UI" panose="020B0502040204020203"/>
              </a:rPr>
              <a:t>A</a:t>
            </a:r>
            <a:r>
              <a:rPr lang="en-US" altLang="en-US" sz="3600" b="1">
                <a:solidFill>
                  <a:srgbClr val="FFFFFF"/>
                </a:solidFill>
                <a:latin typeface="Segoe UI" panose="020B0502040204020203"/>
              </a:rPr>
              <a:t>lert </a:t>
            </a:r>
            <a:r>
              <a:rPr lang="en-IN" altLang="en-US" sz="3600" b="1">
                <a:solidFill>
                  <a:srgbClr val="FFFFFF"/>
                </a:solidFill>
                <a:latin typeface="Segoe UI" panose="020B0502040204020203"/>
              </a:rPr>
              <a:t>S</a:t>
            </a:r>
            <a:r>
              <a:rPr lang="en-US" altLang="en-US" sz="3600" b="1">
                <a:solidFill>
                  <a:srgbClr val="FFFFFF"/>
                </a:solidFill>
                <a:latin typeface="Segoe UI" panose="020B0502040204020203"/>
              </a:rPr>
              <a:t>ystem</a:t>
            </a:r>
            <a:endParaRPr lang="en-US" altLang="en-US" sz="3600" b="1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8B9DB5"/>
                </a:solidFill>
                <a:latin typeface="Segoe UI" panose="020B0502040204020203"/>
              </a:rPr>
              <a:t>Real-Time Detection  •  Smart Alerts  •  Interactive Map Analytics</a:t>
            </a:r>
            <a:endParaRPr sz="1400" b="0">
              <a:solidFill>
                <a:srgbClr val="8B9DB5"/>
              </a:solidFill>
              <a:latin typeface="Segoe UI" panose="020B05020402040202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828800" y="3840480"/>
            <a:ext cx="5486400" cy="2103120"/>
          </a:xfrm>
          <a:prstGeom prst="roundRect">
            <a:avLst/>
          </a:prstGeom>
          <a:solidFill>
            <a:srgbClr val="1A2D4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3977639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D4FF"/>
                </a:solidFill>
                <a:latin typeface="Segoe UI" panose="020B0502040204020203"/>
              </a:rPr>
              <a:t>PRESENTED BY</a:t>
            </a:r>
            <a:endParaRPr sz="1100" b="1">
              <a:solidFill>
                <a:srgbClr val="00D4FF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95625" y="4343400"/>
            <a:ext cx="2952750" cy="11068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 panose="020B0502040204020203"/>
              </a:rPr>
              <a:t>★  BATHAKARI VISHNU</a:t>
            </a:r>
            <a:endParaRPr sz="1400" b="1">
              <a:solidFill>
                <a:srgbClr val="FFFFFF"/>
              </a:solidFill>
              <a:latin typeface="Segoe UI" panose="020B0502040204020203"/>
            </a:endParaRP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 panose="020B0502040204020203"/>
              </a:rPr>
              <a:t>★  J. ADILAKSHMI</a:t>
            </a:r>
            <a:endParaRPr sz="1400" b="1">
              <a:solidFill>
                <a:srgbClr val="FFFFFF"/>
              </a:solidFill>
              <a:latin typeface="Segoe UI" panose="020B0502040204020203"/>
            </a:endParaRP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 panose="020B0502040204020203"/>
              </a:rPr>
              <a:t>★  PODRU VENKATA DEVI</a:t>
            </a:r>
            <a:endParaRPr sz="1400" b="1">
              <a:solidFill>
                <a:srgbClr val="FFFFFF"/>
              </a:solidFill>
              <a:latin typeface="Segoe UI" panose="020B0502040204020203"/>
            </a:endParaRP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 panose="020B0502040204020203"/>
              </a:rPr>
              <a:t>★  </a:t>
            </a:r>
            <a:r>
              <a:rPr lang="en-US" altLang="en-US" sz="1400" b="1">
                <a:solidFill>
                  <a:srgbClr val="FFFFFF"/>
                </a:solidFill>
                <a:latin typeface="Segoe UI" panose="020B0502040204020203"/>
              </a:rPr>
              <a:t>MADINENI VENKATA ROHITH</a:t>
            </a:r>
            <a:endParaRPr lang="en-US" altLang="en-US" sz="1400" b="1">
              <a:solidFill>
                <a:srgbClr val="FFFFFF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-274320"/>
            <a:ext cx="2011680" cy="2011680"/>
          </a:xfrm>
          <a:prstGeom prst="ellipse">
            <a:avLst/>
          </a:prstGeom>
          <a:solidFill>
            <a:srgbClr val="A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029200"/>
            <a:ext cx="1828800" cy="1828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0" y="4389120"/>
            <a:ext cx="1280160" cy="12801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11480"/>
            <a:ext cx="64008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47472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 panose="020B0502040204020203"/>
              </a:rPr>
              <a:t>AGENDA</a:t>
            </a:r>
            <a:endParaRPr sz="3000" b="1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960120"/>
            <a:ext cx="8138160" cy="18288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234440"/>
            <a:ext cx="7315200" cy="530352"/>
          </a:xfrm>
          <a:prstGeom prst="roundRect">
            <a:avLst/>
          </a:prstGeom>
          <a:solidFill>
            <a:srgbClr val="1A2D4A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325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4757"/>
                </a:solidFill>
                <a:latin typeface="Segoe UI" panose="020B0502040204020203"/>
              </a:rPr>
              <a:t>01</a:t>
            </a:r>
            <a:endParaRPr sz="1400" b="1">
              <a:solidFill>
                <a:srgbClr val="FF4757"/>
              </a:solidFill>
              <a:latin typeface="Segoe U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00200" y="13258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Segoe UI" panose="020B0502040204020203"/>
              </a:rPr>
              <a:t>Problem Statement</a:t>
            </a:r>
            <a:endParaRPr sz="1600" b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14400" y="1892808"/>
            <a:ext cx="7315200" cy="530352"/>
          </a:xfrm>
          <a:prstGeom prst="roundRect">
            <a:avLst/>
          </a:prstGeom>
          <a:solidFill>
            <a:srgbClr val="1A2D4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198424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D4FF"/>
                </a:solidFill>
                <a:latin typeface="Segoe UI" panose="020B0502040204020203"/>
              </a:rPr>
              <a:t>02</a:t>
            </a:r>
            <a:endParaRPr sz="1400" b="1">
              <a:solidFill>
                <a:srgbClr val="00D4FF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00200" y="1984248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Segoe UI" panose="020B0502040204020203"/>
              </a:rPr>
              <a:t>Solution Overview</a:t>
            </a:r>
            <a:endParaRPr sz="1600" b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14400" y="2551176"/>
            <a:ext cx="7315200" cy="530352"/>
          </a:xfrm>
          <a:prstGeom prst="roundRect">
            <a:avLst/>
          </a:prstGeom>
          <a:solidFill>
            <a:srgbClr val="1A2D4A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64261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E696"/>
                </a:solidFill>
                <a:latin typeface="Segoe UI" panose="020B0502040204020203"/>
              </a:rPr>
              <a:t>03</a:t>
            </a:r>
            <a:endParaRPr sz="1400" b="1">
              <a:solidFill>
                <a:srgbClr val="00E696"/>
              </a:solidFill>
              <a:latin typeface="Segoe UI" panose="020B05020402040202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00200" y="2642616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Segoe UI" panose="020B0502040204020203"/>
              </a:rPr>
              <a:t>Key Features</a:t>
            </a:r>
            <a:endParaRPr sz="1600" b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14400" y="3209544"/>
            <a:ext cx="7315200" cy="530352"/>
          </a:xfrm>
          <a:prstGeom prst="roundRect">
            <a:avLst/>
          </a:prstGeom>
          <a:solidFill>
            <a:srgbClr val="1A2D4A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3009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6B35"/>
                </a:solidFill>
                <a:latin typeface="Segoe UI" panose="020B0502040204020203"/>
              </a:rPr>
              <a:t>04</a:t>
            </a:r>
            <a:endParaRPr sz="1400" b="1">
              <a:solidFill>
                <a:srgbClr val="FF6B35"/>
              </a:solidFill>
              <a:latin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00200" y="330098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Segoe UI" panose="020B0502040204020203"/>
              </a:rPr>
              <a:t>AWS Services Used</a:t>
            </a:r>
            <a:endParaRPr sz="1600" b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14400" y="3867912"/>
            <a:ext cx="7315200" cy="530352"/>
          </a:xfrm>
          <a:prstGeom prst="roundRect">
            <a:avLst/>
          </a:prstGeom>
          <a:solidFill>
            <a:srgbClr val="1A2D4A"/>
          </a:solidFill>
          <a:ln w="12700">
            <a:solidFill>
              <a:srgbClr val="A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395935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A778FF"/>
                </a:solidFill>
                <a:latin typeface="Segoe UI" panose="020B0502040204020203"/>
              </a:rPr>
              <a:t>05</a:t>
            </a:r>
            <a:endParaRPr sz="1400" b="1">
              <a:solidFill>
                <a:srgbClr val="A778FF"/>
              </a:solidFill>
              <a:latin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00200" y="39593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Segoe UI" panose="020B0502040204020203"/>
              </a:rPr>
              <a:t>Architecture</a:t>
            </a:r>
            <a:endParaRPr sz="1600" b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14400" y="4526279"/>
            <a:ext cx="7315200" cy="530352"/>
          </a:xfrm>
          <a:prstGeom prst="roundRect">
            <a:avLst/>
          </a:prstGeom>
          <a:solidFill>
            <a:srgbClr val="1A2D4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617719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D4FF"/>
                </a:solidFill>
                <a:latin typeface="Segoe UI" panose="020B0502040204020203"/>
              </a:rPr>
              <a:t>06</a:t>
            </a:r>
            <a:endParaRPr sz="1400" b="1">
              <a:solidFill>
                <a:srgbClr val="00D4FF"/>
              </a:solidFill>
              <a:latin typeface="Segoe U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00200" y="4617719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Segoe UI" panose="020B0502040204020203"/>
              </a:rPr>
              <a:t>Future Work</a:t>
            </a:r>
            <a:endParaRPr sz="1600" b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14400" y="5184648"/>
            <a:ext cx="7315200" cy="530352"/>
          </a:xfrm>
          <a:prstGeom prst="roundRect">
            <a:avLst/>
          </a:prstGeom>
          <a:solidFill>
            <a:srgbClr val="1A2D4A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276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E696"/>
                </a:solidFill>
                <a:latin typeface="Segoe UI" panose="020B0502040204020203"/>
              </a:rPr>
              <a:t>07</a:t>
            </a:r>
            <a:endParaRPr sz="1400" b="1">
              <a:solidFill>
                <a:srgbClr val="00E696"/>
              </a:solidFill>
              <a:latin typeface="Segoe UI" panose="020B05020402040202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600200" y="5276088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Segoe UI" panose="020B0502040204020203"/>
              </a:rPr>
              <a:t>Conclusion</a:t>
            </a:r>
            <a:endParaRPr sz="1600" b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21040" y="64008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8B9DB5"/>
                </a:solidFill>
                <a:latin typeface="Segoe UI" panose="020B0502040204020203"/>
              </a:rPr>
              <a:t>2</a:t>
            </a:r>
            <a:endParaRPr sz="1100" b="0">
              <a:solidFill>
                <a:srgbClr val="8B9DB5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-274320"/>
            <a:ext cx="2011680" cy="2011680"/>
          </a:xfrm>
          <a:prstGeom prst="ellipse">
            <a:avLst/>
          </a:prstGeom>
          <a:solidFill>
            <a:srgbClr val="A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029200"/>
            <a:ext cx="1828800" cy="1828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0" y="4389120"/>
            <a:ext cx="1280160" cy="12801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11480"/>
            <a:ext cx="64008" cy="50292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47472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 panose="020B0502040204020203"/>
              </a:rPr>
              <a:t>PROBLEM STATEMENT</a:t>
            </a:r>
            <a:endParaRPr sz="3000" b="1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960120"/>
            <a:ext cx="8138160" cy="18288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3444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0">
                <a:solidFill>
                  <a:srgbClr val="C8D6E5"/>
                </a:solidFill>
                <a:latin typeface="Segoe UI" panose="020B0502040204020203"/>
              </a:rPr>
              <a:t>▸  MANUAL DISASTER ASSESSMENT FROM SATELLITE IMAGERY IS SLOW AND ERROR-PRONE</a:t>
            </a:r>
            <a:endParaRPr sz="1700" b="0">
              <a:solidFill>
                <a:srgbClr val="C8D6E5"/>
              </a:solidFill>
              <a:latin typeface="Segoe UI" panose="020B0502040204020203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0">
                <a:solidFill>
                  <a:srgbClr val="C8D6E5"/>
                </a:solidFill>
                <a:latin typeface="Segoe UI" panose="020B0502040204020203"/>
              </a:rPr>
              <a:t>▸  DELAYED DETECTION LEADS TO SLOW EMERGENCY RESPONSE DURING FLOODS, FIRES &amp; CYCLONES</a:t>
            </a:r>
            <a:endParaRPr sz="1700" b="0">
              <a:solidFill>
                <a:srgbClr val="C8D6E5"/>
              </a:solidFill>
              <a:latin typeface="Segoe UI" panose="020B0502040204020203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0">
                <a:solidFill>
                  <a:srgbClr val="C8D6E5"/>
                </a:solidFill>
                <a:latin typeface="Segoe UI" panose="020B0502040204020203"/>
              </a:rPr>
              <a:t>▸  LACK OF AUTOMATED REAL-TIME CLASSIFICATION AND SEVERITY ASSESSMENT</a:t>
            </a:r>
            <a:endParaRPr sz="1700" b="0">
              <a:solidFill>
                <a:srgbClr val="C8D6E5"/>
              </a:solidFill>
              <a:latin typeface="Segoe UI" panose="020B0502040204020203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0">
                <a:solidFill>
                  <a:srgbClr val="C8D6E5"/>
                </a:solidFill>
                <a:latin typeface="Segoe UI" panose="020B0502040204020203"/>
              </a:rPr>
              <a:t>▸  NO INTEGRATED PLATFORM TO VISUALIZE DISASTERS GEOGRAPHICALLY AND SEND INSTANT ALERTS</a:t>
            </a:r>
            <a:endParaRPr sz="1700" b="0">
              <a:solidFill>
                <a:srgbClr val="C8D6E5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64008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8B9DB5"/>
                </a:solidFill>
                <a:latin typeface="Segoe UI" panose="020B0502040204020203"/>
              </a:rPr>
              <a:t>3</a:t>
            </a:r>
            <a:endParaRPr sz="1100" b="0">
              <a:solidFill>
                <a:srgbClr val="8B9DB5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-274320"/>
            <a:ext cx="2011680" cy="2011680"/>
          </a:xfrm>
          <a:prstGeom prst="ellipse">
            <a:avLst/>
          </a:prstGeom>
          <a:solidFill>
            <a:srgbClr val="A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029200"/>
            <a:ext cx="1828800" cy="1828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0" y="4389120"/>
            <a:ext cx="1280160" cy="12801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11480"/>
            <a:ext cx="64008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47472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 panose="020B0502040204020203"/>
              </a:rPr>
              <a:t>SOLUTION OVERVIEW</a:t>
            </a:r>
            <a:endParaRPr sz="3000" b="1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960120"/>
            <a:ext cx="8138160" cy="18288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3444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0">
                <a:solidFill>
                  <a:srgbClr val="C8D6E5"/>
                </a:solidFill>
                <a:latin typeface="Segoe UI" panose="020B0502040204020203"/>
              </a:rPr>
              <a:t>▸  WEB-BASED DISASTER MONITORING SYSTEM FOR SATELLITE IMAGE ANALYSIS</a:t>
            </a:r>
            <a:endParaRPr sz="1700" b="0">
              <a:solidFill>
                <a:srgbClr val="C8D6E5"/>
              </a:solidFill>
              <a:latin typeface="Segoe UI" panose="020B0502040204020203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0">
                <a:solidFill>
                  <a:srgbClr val="C8D6E5"/>
                </a:solidFill>
                <a:latin typeface="Segoe UI" panose="020B0502040204020203"/>
              </a:rPr>
              <a:t>▸  USERS UPLOAD SATELLITE IMAGES WITH LOCATION (KERALA, ANDHRA PRADESH, ODISHA, ETC.)</a:t>
            </a:r>
            <a:endParaRPr sz="1700" b="0">
              <a:solidFill>
                <a:srgbClr val="C8D6E5"/>
              </a:solidFill>
              <a:latin typeface="Segoe UI" panose="020B0502040204020203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0">
                <a:solidFill>
                  <a:srgbClr val="C8D6E5"/>
                </a:solidFill>
                <a:latin typeface="Segoe UI" panose="020B0502040204020203"/>
              </a:rPr>
              <a:t>▸  AI ENSEMBLE (CLIP + MOBILENET + HEURISTIC) CLASSIFIES FLOOD, FIRE, CYCLONE OR NORMAL</a:t>
            </a:r>
            <a:endParaRPr sz="1700" b="0">
              <a:solidFill>
                <a:srgbClr val="C8D6E5"/>
              </a:solidFill>
              <a:latin typeface="Segoe UI" panose="020B0502040204020203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0">
                <a:solidFill>
                  <a:srgbClr val="C8D6E5"/>
                </a:solidFill>
                <a:latin typeface="Segoe UI" panose="020B0502040204020203"/>
              </a:rPr>
              <a:t>▸  SYSTEM ASSIGNS CONFIDENCE (%) AND SEVERITY — HIGH / MEDIUM / LOW</a:t>
            </a:r>
            <a:endParaRPr sz="1700" b="0">
              <a:solidFill>
                <a:srgbClr val="C8D6E5"/>
              </a:solidFill>
              <a:latin typeface="Segoe UI" panose="020B0502040204020203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0">
                <a:solidFill>
                  <a:srgbClr val="C8D6E5"/>
                </a:solidFill>
                <a:latin typeface="Segoe UI" panose="020B0502040204020203"/>
              </a:rPr>
              <a:t>▸  HIGH-SEVERITY EVENTS TRIGGER AWS SNS EMAIL ALERTS TO RESPONSE TEAMS</a:t>
            </a:r>
            <a:endParaRPr sz="1700" b="0">
              <a:solidFill>
                <a:srgbClr val="C8D6E5"/>
              </a:solidFill>
              <a:latin typeface="Segoe UI" panose="020B0502040204020203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0">
                <a:solidFill>
                  <a:srgbClr val="C8D6E5"/>
                </a:solidFill>
                <a:latin typeface="Segoe UI" panose="020B0502040204020203"/>
              </a:rPr>
              <a:t>▸  RECORDS STORED IN DYNAMODB (CLOUD) WITH LAT/LNG FOR MAP VISUALIZATION</a:t>
            </a:r>
            <a:endParaRPr sz="1700" b="0">
              <a:solidFill>
                <a:srgbClr val="C8D6E5"/>
              </a:solidFill>
              <a:latin typeface="Segoe UI" panose="020B0502040204020203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0">
                <a:solidFill>
                  <a:srgbClr val="C8D6E5"/>
                </a:solidFill>
                <a:latin typeface="Segoe UI" panose="020B0502040204020203"/>
              </a:rPr>
              <a:t>▸  INTERACTIVE LEAFLET MAP + DASHBOARD FOR REAL-TIME DISASTER ANALYTICS</a:t>
            </a:r>
            <a:endParaRPr sz="1700" b="0">
              <a:solidFill>
                <a:srgbClr val="C8D6E5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64008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8B9DB5"/>
                </a:solidFill>
                <a:latin typeface="Segoe UI" panose="020B0502040204020203"/>
              </a:rPr>
              <a:t>4</a:t>
            </a:r>
            <a:endParaRPr sz="1100" b="0">
              <a:solidFill>
                <a:srgbClr val="8B9DB5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-274320"/>
            <a:ext cx="2011680" cy="2011680"/>
          </a:xfrm>
          <a:prstGeom prst="ellipse">
            <a:avLst/>
          </a:prstGeom>
          <a:solidFill>
            <a:srgbClr val="A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029200"/>
            <a:ext cx="1828800" cy="1828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0" y="4389120"/>
            <a:ext cx="1280160" cy="12801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11480"/>
            <a:ext cx="64008" cy="50292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47472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 panose="020B0502040204020203"/>
              </a:rPr>
              <a:t>KEY FEATURES</a:t>
            </a:r>
            <a:endParaRPr sz="3000" b="1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960120"/>
            <a:ext cx="8138160" cy="18288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188720"/>
            <a:ext cx="3794760" cy="658368"/>
          </a:xfrm>
          <a:prstGeom prst="roundRect">
            <a:avLst/>
          </a:prstGeom>
          <a:solidFill>
            <a:srgbClr val="1A2D4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188720"/>
            <a:ext cx="54864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298448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D6E5"/>
                </a:solidFill>
                <a:latin typeface="Segoe UI" panose="020B0502040204020203"/>
              </a:rPr>
              <a:t>1.  User &amp; Admin login with role-based access</a:t>
            </a:r>
            <a:endParaRPr sz="1200" b="0">
              <a:solidFill>
                <a:srgbClr val="C8D6E5"/>
              </a:solidFill>
              <a:latin typeface="Segoe UI" panose="020B0502040204020203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26280" y="1188720"/>
            <a:ext cx="3794760" cy="658368"/>
          </a:xfrm>
          <a:prstGeom prst="roundRect">
            <a:avLst/>
          </a:prstGeom>
          <a:solidFill>
            <a:srgbClr val="1A2D4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188720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298448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D6E5"/>
                </a:solidFill>
                <a:latin typeface="Segoe UI" panose="020B0502040204020203"/>
              </a:rPr>
              <a:t>2.  Satellite image upload with location tagging</a:t>
            </a:r>
            <a:endParaRPr sz="1200" b="0">
              <a:solidFill>
                <a:srgbClr val="C8D6E5"/>
              </a:solidFill>
              <a:latin typeface="Segoe UI" panose="020B0502040204020203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2011680"/>
            <a:ext cx="3794760" cy="658368"/>
          </a:xfrm>
          <a:prstGeom prst="roundRect">
            <a:avLst/>
          </a:prstGeom>
          <a:solidFill>
            <a:srgbClr val="1A2D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011680"/>
            <a:ext cx="54864" cy="658368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2121408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D6E5"/>
                </a:solidFill>
                <a:latin typeface="Segoe UI" panose="020B0502040204020203"/>
              </a:rPr>
              <a:t>3.  AI classification — CLIP + MobileNetV2 ensemble</a:t>
            </a:r>
            <a:endParaRPr sz="1200" b="0">
              <a:solidFill>
                <a:srgbClr val="C8D6E5"/>
              </a:solidFill>
              <a:latin typeface="Segoe UI" panose="020B0502040204020203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26280" y="2011680"/>
            <a:ext cx="3794760" cy="658368"/>
          </a:xfrm>
          <a:prstGeom prst="roundRect">
            <a:avLst/>
          </a:prstGeom>
          <a:solidFill>
            <a:srgbClr val="1A2D4A"/>
          </a:solidFill>
          <a:ln w="1905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26280" y="2011680"/>
            <a:ext cx="54864" cy="658368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0872" y="2121408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D6E5"/>
                </a:solidFill>
                <a:latin typeface="Segoe UI" panose="020B0502040204020203"/>
              </a:rPr>
              <a:t>4.  Confidence score &amp; severity (High / Medium / Low)</a:t>
            </a:r>
            <a:endParaRPr sz="1200" b="0">
              <a:solidFill>
                <a:srgbClr val="C8D6E5"/>
              </a:solidFill>
              <a:latin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920" y="2834639"/>
            <a:ext cx="3794760" cy="658368"/>
          </a:xfrm>
          <a:prstGeom prst="roundRect">
            <a:avLst/>
          </a:prstGeom>
          <a:solidFill>
            <a:srgbClr val="1A2D4A"/>
          </a:solidFill>
          <a:ln w="19050">
            <a:solidFill>
              <a:srgbClr val="A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2834639"/>
            <a:ext cx="54864" cy="658368"/>
          </a:xfrm>
          <a:prstGeom prst="rect">
            <a:avLst/>
          </a:prstGeom>
          <a:solidFill>
            <a:srgbClr val="A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2944368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D6E5"/>
                </a:solidFill>
                <a:latin typeface="Segoe UI" panose="020B0502040204020203"/>
              </a:rPr>
              <a:t>5.  Interactive dashboard with live analytics</a:t>
            </a:r>
            <a:endParaRPr sz="1200" b="0">
              <a:solidFill>
                <a:srgbClr val="C8D6E5"/>
              </a:solidFill>
              <a:latin typeface="Segoe UI" panose="020B0502040204020203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526280" y="2834639"/>
            <a:ext cx="3794760" cy="658368"/>
          </a:xfrm>
          <a:prstGeom prst="roundRect">
            <a:avLst/>
          </a:prstGeom>
          <a:solidFill>
            <a:srgbClr val="1A2D4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26280" y="2834639"/>
            <a:ext cx="54864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90872" y="2944368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D6E5"/>
                </a:solidFill>
                <a:latin typeface="Segoe UI" panose="020B0502040204020203"/>
              </a:rPr>
              <a:t>6.  Leaflet map with geo-located disaster markers</a:t>
            </a:r>
            <a:endParaRPr sz="1200" b="0">
              <a:solidFill>
                <a:srgbClr val="C8D6E5"/>
              </a:solidFill>
              <a:latin typeface="Segoe UI" panose="020B0502040204020203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02920" y="3657600"/>
            <a:ext cx="3794760" cy="658368"/>
          </a:xfrm>
          <a:prstGeom prst="roundRect">
            <a:avLst/>
          </a:prstGeom>
          <a:solidFill>
            <a:srgbClr val="1A2D4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657600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3767328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D6E5"/>
                </a:solidFill>
                <a:latin typeface="Segoe UI" panose="020B0502040204020203"/>
              </a:rPr>
              <a:t>7.  High-severity alerts via AWS SNS email</a:t>
            </a:r>
            <a:endParaRPr sz="1200" b="0">
              <a:solidFill>
                <a:srgbClr val="C8D6E5"/>
              </a:solidFill>
              <a:latin typeface="Segoe UI" panose="020B0502040204020203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526280" y="3657600"/>
            <a:ext cx="3794760" cy="658368"/>
          </a:xfrm>
          <a:prstGeom prst="roundRect">
            <a:avLst/>
          </a:prstGeom>
          <a:solidFill>
            <a:srgbClr val="1A2D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26280" y="3657600"/>
            <a:ext cx="54864" cy="658368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90872" y="3767328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D6E5"/>
                </a:solidFill>
                <a:latin typeface="Segoe UI" panose="020B0502040204020203"/>
              </a:rPr>
              <a:t>8.  Admin lifecycle management (Active / Resolved)</a:t>
            </a:r>
            <a:endParaRPr sz="1200" b="0">
              <a:solidFill>
                <a:srgbClr val="C8D6E5"/>
              </a:solidFill>
              <a:latin typeface="Segoe UI" panose="020B0502040204020203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02920" y="4480559"/>
            <a:ext cx="3794760" cy="658368"/>
          </a:xfrm>
          <a:prstGeom prst="roundRect">
            <a:avLst/>
          </a:prstGeom>
          <a:solidFill>
            <a:srgbClr val="1A2D4A"/>
          </a:solidFill>
          <a:ln w="1905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4480559"/>
            <a:ext cx="54864" cy="658368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" y="4590288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D6E5"/>
                </a:solidFill>
                <a:latin typeface="Segoe UI" panose="020B0502040204020203"/>
              </a:rPr>
              <a:t>9.  CSV export of disaster reports</a:t>
            </a:r>
            <a:endParaRPr sz="1200" b="0">
              <a:solidFill>
                <a:srgbClr val="C8D6E5"/>
              </a:solidFill>
              <a:latin typeface="Segoe UI" panose="020B0502040204020203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4526280" y="4480559"/>
            <a:ext cx="3794760" cy="658368"/>
          </a:xfrm>
          <a:prstGeom prst="roundRect">
            <a:avLst/>
          </a:prstGeom>
          <a:solidFill>
            <a:srgbClr val="1A2D4A"/>
          </a:solidFill>
          <a:ln w="19050">
            <a:solidFill>
              <a:srgbClr val="A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26280" y="4480559"/>
            <a:ext cx="54864" cy="658368"/>
          </a:xfrm>
          <a:prstGeom prst="rect">
            <a:avLst/>
          </a:prstGeom>
          <a:solidFill>
            <a:srgbClr val="A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90872" y="4590288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D6E5"/>
                </a:solidFill>
                <a:latin typeface="Segoe UI" panose="020B0502040204020203"/>
              </a:rPr>
              <a:t>10. Graceful AI fallback for offline mode</a:t>
            </a:r>
            <a:endParaRPr sz="1200" b="0">
              <a:solidFill>
                <a:srgbClr val="C8D6E5"/>
              </a:solidFill>
              <a:latin typeface="Segoe UI" panose="020B0502040204020203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321040" y="64008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8B9DB5"/>
                </a:solidFill>
                <a:latin typeface="Segoe UI" panose="020B0502040204020203"/>
              </a:rPr>
              <a:t>5</a:t>
            </a:r>
            <a:endParaRPr sz="1100" b="0">
              <a:solidFill>
                <a:srgbClr val="8B9DB5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-274320"/>
            <a:ext cx="2011680" cy="2011680"/>
          </a:xfrm>
          <a:prstGeom prst="ellipse">
            <a:avLst/>
          </a:prstGeom>
          <a:solidFill>
            <a:srgbClr val="A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029200"/>
            <a:ext cx="1828800" cy="1828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0" y="4389120"/>
            <a:ext cx="1280160" cy="12801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11480"/>
            <a:ext cx="64008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47472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 panose="020B0502040204020203"/>
              </a:rPr>
              <a:t>AWS SERVICES USED</a:t>
            </a:r>
            <a:endParaRPr sz="3000" b="1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960120"/>
            <a:ext cx="8138160" cy="18288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1234440"/>
          <a:ext cx="7955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669280"/>
              </a:tblGrid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D4FF"/>
                          </a:solidFill>
                          <a:latin typeface="Segoe UI" panose="020B0502040204020203"/>
                        </a:rPr>
                        <a:t>AWS SERVICE</a:t>
                      </a:r>
                      <a:endParaRPr sz="1300" b="1">
                        <a:solidFill>
                          <a:srgbClr val="00D4FF"/>
                        </a:solidFill>
                        <a:latin typeface="Segoe UI" panose="020B0502040204020203"/>
                      </a:endParaRPr>
                    </a:p>
                  </a:txBody>
                  <a:tcPr marL="73152" anchor="ctr">
                    <a:solidFill>
                      <a:srgbClr val="1528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D4FF"/>
                          </a:solidFill>
                          <a:latin typeface="Segoe UI" panose="020B0502040204020203"/>
                        </a:rPr>
                        <a:t>PURPOSE</a:t>
                      </a:r>
                      <a:endParaRPr sz="1300" b="1">
                        <a:solidFill>
                          <a:srgbClr val="00D4FF"/>
                        </a:solidFill>
                        <a:latin typeface="Segoe UI" panose="020B0502040204020203"/>
                      </a:endParaRPr>
                    </a:p>
                  </a:txBody>
                  <a:tcPr marL="73152" anchor="ctr">
                    <a:solidFill>
                      <a:srgbClr val="152842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D4FF"/>
                          </a:solidFill>
                          <a:latin typeface="Segoe UI" panose="020B0502040204020203"/>
                        </a:rPr>
                        <a:t>Amazon S3</a:t>
                      </a:r>
                      <a:endParaRPr sz="1200" b="1">
                        <a:solidFill>
                          <a:srgbClr val="00D4FF"/>
                        </a:solidFill>
                        <a:latin typeface="Segoe UI" panose="020B0502040204020203"/>
                      </a:endParaRPr>
                    </a:p>
                  </a:txBody>
                  <a:tcPr marL="73152" anchor="ctr"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8D6E5"/>
                          </a:solidFill>
                          <a:latin typeface="Segoe UI" panose="020B0502040204020203"/>
                        </a:rPr>
                        <a:t>Securely stores uploaded satellite images</a:t>
                      </a:r>
                      <a:endParaRPr sz="1200" b="0">
                        <a:solidFill>
                          <a:srgbClr val="C8D6E5"/>
                        </a:solidFill>
                        <a:latin typeface="Segoe UI" panose="020B0502040204020203"/>
                      </a:endParaRPr>
                    </a:p>
                  </a:txBody>
                  <a:tcPr marL="73152" anchor="ctr">
                    <a:solidFill>
                      <a:srgbClr val="1E3355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6B35"/>
                          </a:solidFill>
                          <a:latin typeface="Segoe UI" panose="020B0502040204020203"/>
                        </a:rPr>
                        <a:t>Amazon DynamoDB</a:t>
                      </a:r>
                      <a:endParaRPr sz="1200" b="1">
                        <a:solidFill>
                          <a:srgbClr val="FF6B35"/>
                        </a:solidFill>
                        <a:latin typeface="Segoe UI" panose="020B0502040204020203"/>
                      </a:endParaRPr>
                    </a:p>
                  </a:txBody>
                  <a:tcPr marL="73152" anchor="ctr"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8D6E5"/>
                          </a:solidFill>
                          <a:latin typeface="Segoe UI" panose="020B0502040204020203"/>
                        </a:rPr>
                        <a:t>Stores disaster records — type, location, severity, timestamp</a:t>
                      </a:r>
                      <a:endParaRPr sz="1200" b="0">
                        <a:solidFill>
                          <a:srgbClr val="C8D6E5"/>
                        </a:solidFill>
                        <a:latin typeface="Segoe UI" panose="020B0502040204020203"/>
                      </a:endParaRPr>
                    </a:p>
                  </a:txBody>
                  <a:tcPr marL="73152" anchor="ctr">
                    <a:solidFill>
                      <a:srgbClr val="1E3355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4757"/>
                          </a:solidFill>
                          <a:latin typeface="Segoe UI" panose="020B0502040204020203"/>
                        </a:rPr>
                        <a:t>Amazon SNS</a:t>
                      </a:r>
                      <a:endParaRPr sz="1200" b="1">
                        <a:solidFill>
                          <a:srgbClr val="FF4757"/>
                        </a:solidFill>
                        <a:latin typeface="Segoe UI" panose="020B0502040204020203"/>
                      </a:endParaRPr>
                    </a:p>
                  </a:txBody>
                  <a:tcPr marL="73152" anchor="ctr"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8D6E5"/>
                          </a:solidFill>
                          <a:latin typeface="Segoe UI" panose="020B0502040204020203"/>
                        </a:rPr>
                        <a:t>Sends real-time email alerts for high-severity disasters</a:t>
                      </a:r>
                      <a:endParaRPr sz="1200" b="0">
                        <a:solidFill>
                          <a:srgbClr val="C8D6E5"/>
                        </a:solidFill>
                        <a:latin typeface="Segoe UI" panose="020B0502040204020203"/>
                      </a:endParaRPr>
                    </a:p>
                  </a:txBody>
                  <a:tcPr marL="73152" anchor="ctr">
                    <a:solidFill>
                      <a:srgbClr val="1E3355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778FF"/>
                          </a:solidFill>
                          <a:latin typeface="Segoe UI" panose="020B0502040204020203"/>
                        </a:rPr>
                        <a:t>AWS Lambda</a:t>
                      </a:r>
                      <a:endParaRPr sz="1200" b="1">
                        <a:solidFill>
                          <a:srgbClr val="A778FF"/>
                        </a:solidFill>
                        <a:latin typeface="Segoe UI" panose="020B0502040204020203"/>
                      </a:endParaRPr>
                    </a:p>
                  </a:txBody>
                  <a:tcPr marL="73152" anchor="ctr"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8D6E5"/>
                          </a:solidFill>
                          <a:latin typeface="Segoe UI" panose="020B0502040204020203"/>
                        </a:rPr>
                        <a:t>Processes S3 upload events and triggers notifications</a:t>
                      </a:r>
                      <a:endParaRPr sz="1200" b="0">
                        <a:solidFill>
                          <a:srgbClr val="C8D6E5"/>
                        </a:solidFill>
                        <a:latin typeface="Segoe UI" panose="020B0502040204020203"/>
                      </a:endParaRPr>
                    </a:p>
                  </a:txBody>
                  <a:tcPr marL="73152" anchor="ctr">
                    <a:solidFill>
                      <a:srgbClr val="1E3355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E696"/>
                          </a:solidFill>
                          <a:latin typeface="Segoe UI" panose="020B0502040204020203"/>
                        </a:rPr>
                        <a:t>API Gateway</a:t>
                      </a:r>
                      <a:endParaRPr sz="1200" b="1">
                        <a:solidFill>
                          <a:srgbClr val="00E696"/>
                        </a:solidFill>
                        <a:latin typeface="Segoe UI" panose="020B0502040204020203"/>
                      </a:endParaRPr>
                    </a:p>
                  </a:txBody>
                  <a:tcPr marL="73152" anchor="ctr"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8D6E5"/>
                          </a:solidFill>
                          <a:latin typeface="Segoe UI" panose="020B0502040204020203"/>
                        </a:rPr>
                        <a:t>Exposes serverless REST endpoints for cloud integration</a:t>
                      </a:r>
                      <a:endParaRPr sz="1200" b="0">
                        <a:solidFill>
                          <a:srgbClr val="C8D6E5"/>
                        </a:solidFill>
                        <a:latin typeface="Segoe UI" panose="020B0502040204020203"/>
                      </a:endParaRPr>
                    </a:p>
                  </a:txBody>
                  <a:tcPr marL="73152" anchor="ctr">
                    <a:solidFill>
                      <a:srgbClr val="1E335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321040" y="64008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8B9DB5"/>
                </a:solidFill>
                <a:latin typeface="Segoe UI" panose="020B0502040204020203"/>
              </a:rPr>
              <a:t>6</a:t>
            </a:r>
            <a:endParaRPr sz="1100" b="0">
              <a:solidFill>
                <a:srgbClr val="8B9DB5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-274320"/>
            <a:ext cx="2011680" cy="2011680"/>
          </a:xfrm>
          <a:prstGeom prst="ellipse">
            <a:avLst/>
          </a:prstGeom>
          <a:solidFill>
            <a:srgbClr val="A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029200"/>
            <a:ext cx="1828800" cy="1828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0" y="4389120"/>
            <a:ext cx="1280160" cy="12801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11480"/>
            <a:ext cx="64008" cy="502920"/>
          </a:xfrm>
          <a:prstGeom prst="rect">
            <a:avLst/>
          </a:prstGeom>
          <a:solidFill>
            <a:srgbClr val="A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47472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 panose="020B0502040204020203"/>
              </a:rPr>
              <a:t>ARCHITECTURE</a:t>
            </a:r>
            <a:endParaRPr sz="3000" b="1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960120"/>
            <a:ext cx="8138160" cy="18288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1143000"/>
            <a:ext cx="7132320" cy="868680"/>
          </a:xfrm>
          <a:prstGeom prst="roundRect">
            <a:avLst/>
          </a:prstGeom>
          <a:solidFill>
            <a:srgbClr val="1A2D4A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234440"/>
            <a:ext cx="6766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D4FF"/>
                </a:solidFill>
                <a:latin typeface="Segoe UI" panose="020B0502040204020203"/>
              </a:rPr>
              <a:t>🖥  REACT + VITE FRONTEND</a:t>
            </a:r>
            <a:endParaRPr sz="1400" b="1">
              <a:solidFill>
                <a:srgbClr val="00D4FF"/>
              </a:solidFill>
              <a:latin typeface="Segoe U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88720" y="1581912"/>
            <a:ext cx="6766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DB5"/>
                </a:solidFill>
                <a:latin typeface="Segoe UI" panose="020B0502040204020203"/>
              </a:rPr>
              <a:t>Dashboard  •  Upload  •  Map  •  Reports  •  Alerts</a:t>
            </a:r>
            <a:endParaRPr sz="1100" b="0">
              <a:solidFill>
                <a:srgbClr val="8B9DB5"/>
              </a:solidFill>
              <a:latin typeface="Segoe UI" panose="020B0502040204020203"/>
            </a:endParaRPr>
          </a:p>
        </p:txBody>
      </p:sp>
      <p:sp>
        <p:nvSpPr>
          <p:cNvPr id="13" name="Down Arrow 12"/>
          <p:cNvSpPr/>
          <p:nvPr/>
        </p:nvSpPr>
        <p:spPr>
          <a:xfrm>
            <a:off x="4434840" y="2039112"/>
            <a:ext cx="274320" cy="201168"/>
          </a:xfrm>
          <a:prstGeom prst="down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40" y="2331720"/>
            <a:ext cx="7132320" cy="868680"/>
          </a:xfrm>
          <a:prstGeom prst="roundRect">
            <a:avLst/>
          </a:prstGeom>
          <a:solidFill>
            <a:srgbClr val="1A2D4A"/>
          </a:solidFill>
          <a:ln w="25400">
            <a:solidFill>
              <a:srgbClr val="A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423160"/>
            <a:ext cx="6766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A778FF"/>
                </a:solidFill>
                <a:latin typeface="Segoe UI" panose="020B0502040204020203"/>
              </a:rPr>
              <a:t>⚙  FASTAPI BACKEND</a:t>
            </a:r>
            <a:endParaRPr sz="1400" b="1">
              <a:solidFill>
                <a:srgbClr val="A778FF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88720" y="2770632"/>
            <a:ext cx="6766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DB5"/>
                </a:solidFill>
                <a:latin typeface="Segoe UI" panose="020B0502040204020203"/>
              </a:rPr>
              <a:t>REST API  •  Image Processing  •  AI Classifier</a:t>
            </a:r>
            <a:endParaRPr sz="1100" b="0">
              <a:solidFill>
                <a:srgbClr val="8B9DB5"/>
              </a:solidFill>
              <a:latin typeface="Segoe UI" panose="020B0502040204020203"/>
            </a:endParaRPr>
          </a:p>
        </p:txBody>
      </p:sp>
      <p:sp>
        <p:nvSpPr>
          <p:cNvPr id="17" name="Down Arrow 16"/>
          <p:cNvSpPr/>
          <p:nvPr/>
        </p:nvSpPr>
        <p:spPr>
          <a:xfrm>
            <a:off x="4434840" y="3227832"/>
            <a:ext cx="274320" cy="201168"/>
          </a:xfrm>
          <a:prstGeom prst="downArrow">
            <a:avLst/>
          </a:prstGeom>
          <a:solidFill>
            <a:srgbClr val="A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5840" y="3520440"/>
            <a:ext cx="7132320" cy="868680"/>
          </a:xfrm>
          <a:prstGeom prst="roundRect">
            <a:avLst/>
          </a:prstGeom>
          <a:solidFill>
            <a:srgbClr val="1A2D4A"/>
          </a:solidFill>
          <a:ln w="254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611880"/>
            <a:ext cx="6766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E696"/>
                </a:solidFill>
                <a:latin typeface="Segoe UI" panose="020B0502040204020203"/>
              </a:rPr>
              <a:t>🧠  AI PIPELINE</a:t>
            </a:r>
            <a:endParaRPr sz="1400" b="1">
              <a:solidFill>
                <a:srgbClr val="00E696"/>
              </a:solidFill>
              <a:latin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88720" y="3959352"/>
            <a:ext cx="6766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DB5"/>
                </a:solidFill>
                <a:latin typeface="Segoe UI" panose="020B0502040204020203"/>
              </a:rPr>
              <a:t>CLIP Ensemble  →  MobileNetV2  →  Heuristic Fallback</a:t>
            </a:r>
            <a:endParaRPr sz="1100" b="0">
              <a:solidFill>
                <a:srgbClr val="8B9DB5"/>
              </a:solidFill>
              <a:latin typeface="Segoe UI" panose="020B0502040204020203"/>
            </a:endParaRPr>
          </a:p>
        </p:txBody>
      </p:sp>
      <p:sp>
        <p:nvSpPr>
          <p:cNvPr id="21" name="Down Arrow 20"/>
          <p:cNvSpPr/>
          <p:nvPr/>
        </p:nvSpPr>
        <p:spPr>
          <a:xfrm>
            <a:off x="4434840" y="4416552"/>
            <a:ext cx="274320" cy="201168"/>
          </a:xfrm>
          <a:prstGeom prst="downArrow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5840" y="4709160"/>
            <a:ext cx="7132320" cy="868680"/>
          </a:xfrm>
          <a:prstGeom prst="roundRect">
            <a:avLst/>
          </a:prstGeom>
          <a:solidFill>
            <a:srgbClr val="1A2D4A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800600"/>
            <a:ext cx="6766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6B35"/>
                </a:solidFill>
                <a:latin typeface="Segoe UI" panose="020B0502040204020203"/>
              </a:rPr>
              <a:t>☁  AWS CLOUD</a:t>
            </a:r>
            <a:endParaRPr sz="1400" b="1">
              <a:solidFill>
                <a:srgbClr val="FF6B35"/>
              </a:solidFill>
              <a:latin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88720" y="5148072"/>
            <a:ext cx="6766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DB5"/>
                </a:solidFill>
                <a:latin typeface="Segoe UI" panose="020B0502040204020203"/>
              </a:rPr>
              <a:t>S3  •  DynamoDB  •  SNS  •  Lambda  •  API Gateway</a:t>
            </a:r>
            <a:endParaRPr sz="1100" b="0">
              <a:solidFill>
                <a:srgbClr val="8B9DB5"/>
              </a:solidFill>
              <a:latin typeface="Segoe UI" panose="020B0502040204020203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31520" y="5760720"/>
            <a:ext cx="7680960" cy="502920"/>
          </a:xfrm>
          <a:prstGeom prst="roundRect">
            <a:avLst/>
          </a:prstGeom>
          <a:solidFill>
            <a:srgbClr val="152842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833872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0D4FF"/>
                </a:solidFill>
                <a:latin typeface="Segoe UI" panose="020B0502040204020203"/>
              </a:rPr>
              <a:t>Upload  →  AI Classify  →  Store  →  Map &amp; Dashboard  →  SNS Alert</a:t>
            </a:r>
            <a:endParaRPr sz="1200" b="1">
              <a:solidFill>
                <a:srgbClr val="00D4FF"/>
              </a:solidFill>
              <a:latin typeface="Segoe U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21040" y="64008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8B9DB5"/>
                </a:solidFill>
                <a:latin typeface="Segoe UI" panose="020B0502040204020203"/>
              </a:rPr>
              <a:t>7</a:t>
            </a:r>
            <a:endParaRPr sz="1100" b="0">
              <a:solidFill>
                <a:srgbClr val="8B9DB5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-274320"/>
            <a:ext cx="2011680" cy="2011680"/>
          </a:xfrm>
          <a:prstGeom prst="ellipse">
            <a:avLst/>
          </a:prstGeom>
          <a:solidFill>
            <a:srgbClr val="A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029200"/>
            <a:ext cx="1828800" cy="1828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0" y="4389120"/>
            <a:ext cx="1280160" cy="12801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11480"/>
            <a:ext cx="64008" cy="502920"/>
          </a:xfrm>
          <a:prstGeom prst="rect">
            <a:avLst/>
          </a:prstGeom>
          <a:solidFill>
            <a:srgbClr val="A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47472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 panose="020B0502040204020203"/>
              </a:rPr>
              <a:t>FUTURE WORK</a:t>
            </a:r>
            <a:endParaRPr sz="3000" b="1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960120"/>
            <a:ext cx="8138160" cy="18288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3444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0">
                <a:solidFill>
                  <a:srgbClr val="C8D6E5"/>
                </a:solidFill>
                <a:latin typeface="Segoe UI" panose="020B0502040204020203"/>
              </a:rPr>
              <a:t>▸  MOBILE APP INTEGRATION FOR FIELD RESPONDERS</a:t>
            </a:r>
            <a:endParaRPr sz="1700" b="0">
              <a:solidFill>
                <a:srgbClr val="C8D6E5"/>
              </a:solidFill>
              <a:latin typeface="Segoe UI" panose="020B0502040204020203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0">
                <a:solidFill>
                  <a:srgbClr val="C8D6E5"/>
                </a:solidFill>
                <a:latin typeface="Segoe UI" panose="020B0502040204020203"/>
              </a:rPr>
              <a:t>▸  REAL-TIME SATELLITE FEED INTEGRATION (LIVE IMAGERY APIs)</a:t>
            </a:r>
            <a:endParaRPr sz="1700" b="0">
              <a:solidFill>
                <a:srgbClr val="C8D6E5"/>
              </a:solidFill>
              <a:latin typeface="Segoe UI" panose="020B0502040204020203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0">
                <a:solidFill>
                  <a:srgbClr val="C8D6E5"/>
                </a:solidFill>
                <a:latin typeface="Segoe UI" panose="020B0502040204020203"/>
              </a:rPr>
              <a:t>▸  MULTI-REGION AND MULTI-LANGUAGE SUPPORT</a:t>
            </a:r>
            <a:endParaRPr sz="1700" b="0">
              <a:solidFill>
                <a:srgbClr val="C8D6E5"/>
              </a:solidFill>
              <a:latin typeface="Segoe UI" panose="020B0502040204020203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0">
                <a:solidFill>
                  <a:srgbClr val="C8D6E5"/>
                </a:solidFill>
                <a:latin typeface="Segoe UI" panose="020B0502040204020203"/>
              </a:rPr>
              <a:t>▸  ADVANCED ANALYTICS WITH DISASTER TREND PREDICTION</a:t>
            </a:r>
            <a:endParaRPr sz="1700" b="0">
              <a:solidFill>
                <a:srgbClr val="C8D6E5"/>
              </a:solidFill>
              <a:latin typeface="Segoe UI" panose="020B0502040204020203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0">
                <a:solidFill>
                  <a:srgbClr val="C8D6E5"/>
                </a:solidFill>
                <a:latin typeface="Segoe UI" panose="020B0502040204020203"/>
              </a:rPr>
              <a:t>▸  INTEGRATION WITH GOVERNMENT EMERGENCY RESPONSE SYSTEMS</a:t>
            </a:r>
            <a:endParaRPr sz="1700" b="0">
              <a:solidFill>
                <a:srgbClr val="C8D6E5"/>
              </a:solidFill>
              <a:latin typeface="Segoe UI" panose="020B0502040204020203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0">
                <a:solidFill>
                  <a:srgbClr val="C8D6E5"/>
                </a:solidFill>
                <a:latin typeface="Segoe UI" panose="020B0502040204020203"/>
              </a:rPr>
              <a:t>▸  TERRAFORM-BASED FULL AWS INFRASTRUCTURE AUTOMATION</a:t>
            </a:r>
            <a:endParaRPr sz="1700" b="0">
              <a:solidFill>
                <a:srgbClr val="C8D6E5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64008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8B9DB5"/>
                </a:solidFill>
                <a:latin typeface="Segoe UI" panose="020B0502040204020203"/>
              </a:rPr>
              <a:t>8</a:t>
            </a:r>
            <a:endParaRPr sz="1100" b="0">
              <a:solidFill>
                <a:srgbClr val="8B9DB5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-274320"/>
            <a:ext cx="2011680" cy="2011680"/>
          </a:xfrm>
          <a:prstGeom prst="ellipse">
            <a:avLst/>
          </a:prstGeom>
          <a:solidFill>
            <a:srgbClr val="A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029200"/>
            <a:ext cx="1828800" cy="1828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0" y="4389120"/>
            <a:ext cx="1280160" cy="12801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11480"/>
            <a:ext cx="64008" cy="50292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47472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 panose="020B0502040204020203"/>
              </a:rPr>
              <a:t>CONCLUSION</a:t>
            </a:r>
            <a:endParaRPr sz="3000" b="1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960120"/>
            <a:ext cx="8138160" cy="18288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3444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0">
                <a:solidFill>
                  <a:srgbClr val="C8D6E5"/>
                </a:solidFill>
                <a:latin typeface="Segoe UI" panose="020B0502040204020203"/>
              </a:rPr>
              <a:t>▸  A SMART, AUTOMATED &amp; AI-POWERED DISASTER MONITORING SOLUTION</a:t>
            </a:r>
            <a:endParaRPr sz="1700" b="0">
              <a:solidFill>
                <a:srgbClr val="C8D6E5"/>
              </a:solidFill>
              <a:latin typeface="Segoe UI" panose="020B0502040204020203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0">
                <a:solidFill>
                  <a:srgbClr val="C8D6E5"/>
                </a:solidFill>
                <a:latin typeface="Segoe UI" panose="020B0502040204020203"/>
              </a:rPr>
              <a:t>▸  ELIMINATES MANUAL IMAGE INSPECTION — SPEEDS UP EMERGENCY DETECTION</a:t>
            </a:r>
            <a:endParaRPr sz="1700" b="0">
              <a:solidFill>
                <a:srgbClr val="C8D6E5"/>
              </a:solidFill>
              <a:latin typeface="Segoe UI" panose="020B0502040204020203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0">
                <a:solidFill>
                  <a:srgbClr val="C8D6E5"/>
                </a:solidFill>
                <a:latin typeface="Segoe UI" panose="020B0502040204020203"/>
              </a:rPr>
              <a:t>▸  SCALABLE USING AWS SERVERLESS ARCHITECTURE (S3, DYNAMODB, SNS, LAMBDA)</a:t>
            </a:r>
            <a:endParaRPr sz="1700" b="0">
              <a:solidFill>
                <a:srgbClr val="C8D6E5"/>
              </a:solidFill>
              <a:latin typeface="Segoe UI" panose="020B0502040204020203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0">
                <a:solidFill>
                  <a:srgbClr val="C8D6E5"/>
                </a:solidFill>
                <a:latin typeface="Segoe UI" panose="020B0502040204020203"/>
              </a:rPr>
              <a:t>▸  IMPROVES TRANSPARENCY, ACCURACY &amp; RESPONSE TIME IN DISASTER MANAGEMENT</a:t>
            </a:r>
            <a:endParaRPr sz="1700" b="0">
              <a:solidFill>
                <a:srgbClr val="C8D6E5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64008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8B9DB5"/>
                </a:solidFill>
                <a:latin typeface="Segoe UI" panose="020B0502040204020203"/>
              </a:rPr>
              <a:t>9</a:t>
            </a:r>
            <a:endParaRPr sz="1100" b="0">
              <a:solidFill>
                <a:srgbClr val="8B9DB5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-274320"/>
            <a:ext cx="2011680" cy="2011680"/>
          </a:xfrm>
          <a:prstGeom prst="ellipse">
            <a:avLst/>
          </a:prstGeom>
          <a:solidFill>
            <a:srgbClr val="A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029200"/>
            <a:ext cx="1828800" cy="1828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0" y="4389120"/>
            <a:ext cx="1280160" cy="12801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92608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Segoe UI" panose="020B0502040204020203"/>
              </a:rPr>
              <a:t>THANK YOU</a:t>
            </a:r>
            <a:endParaRPr sz="4400" b="1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8B9DB5"/>
                </a:solidFill>
                <a:latin typeface="Segoe UI" panose="020B0502040204020203"/>
              </a:rPr>
              <a:t>Questions &amp; Discussion</a:t>
            </a:r>
            <a:endParaRPr sz="1600" b="0">
              <a:solidFill>
                <a:srgbClr val="8B9DB5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08045" y="4114800"/>
            <a:ext cx="2327910" cy="1122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00D4FF"/>
                </a:solidFill>
                <a:latin typeface="Segoe UI" panose="020B0502040204020203"/>
              </a:rPr>
              <a:t>BATHAKARI VISHNU</a:t>
            </a:r>
            <a:endParaRPr sz="1300" b="0">
              <a:solidFill>
                <a:srgbClr val="00D4FF"/>
              </a:solidFill>
              <a:latin typeface="Segoe UI" panose="020B0502040204020203"/>
            </a:endParaRP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00D4FF"/>
                </a:solidFill>
                <a:latin typeface="Segoe UI" panose="020B0502040204020203"/>
              </a:rPr>
              <a:t>J. ADILAKSHMI</a:t>
            </a:r>
            <a:endParaRPr sz="1300" b="0">
              <a:solidFill>
                <a:srgbClr val="00D4FF"/>
              </a:solidFill>
              <a:latin typeface="Segoe UI" panose="020B0502040204020203"/>
            </a:endParaRP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00D4FF"/>
                </a:solidFill>
                <a:latin typeface="Segoe UI" panose="020B0502040204020203"/>
              </a:rPr>
              <a:t>PODRU VENKATA DEVI</a:t>
            </a:r>
            <a:endParaRPr sz="1300" b="0">
              <a:solidFill>
                <a:srgbClr val="00D4FF"/>
              </a:solidFill>
              <a:latin typeface="Segoe UI" panose="020B0502040204020203"/>
            </a:endParaRPr>
          </a:p>
          <a:p>
            <a:pPr algn="ctr">
              <a:spcAft>
                <a:spcPts val="600"/>
              </a:spcAft>
            </a:pPr>
            <a:r>
              <a:rPr lang="en-US" altLang="en-US" sz="1300" b="0">
                <a:solidFill>
                  <a:srgbClr val="00D4FF"/>
                </a:solidFill>
                <a:latin typeface="Segoe UI" panose="020B0502040204020203"/>
              </a:rPr>
              <a:t>MADINENI VENKATA ROHITH</a:t>
            </a:r>
            <a:endParaRPr lang="en-US" altLang="en-US" sz="1300" b="0">
              <a:solidFill>
                <a:srgbClr val="00D4FF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3131</Words>
  <Application>WPS Presentation</Application>
  <PresentationFormat>On-screen Show (4:3)</PresentationFormat>
  <Paragraphs>169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Arial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 Vishnu</cp:lastModifiedBy>
  <cp:revision>3</cp:revision>
  <dcterms:created xsi:type="dcterms:W3CDTF">2013-01-27T09:14:00Z</dcterms:created>
  <dcterms:modified xsi:type="dcterms:W3CDTF">2026-07-15T07:22:02Z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807257979AF1430DB2753F234603774E_12</vt:lpwstr>
  </property>
  <property fmtid="{D5CDD505-2E9C-101B-9397-08002B2CF9AE}" pid="3" name="KSOProductBuildVer">
    <vt:lpwstr>1033-12.1.0.26880</vt:lpwstr>
  </property>
</Properties>
</file>